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548640"/>
            <a:ext cx="5029200" cy="50292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1097280"/>
            <a:ext cx="4114800" cy="411480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64008" cy="2560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14300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PRAJNA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Revision &amp; Academic Journey Navigation Assistant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Exam Intelligence for NEET · JEE Main · JEE Advanced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493008"/>
            <a:ext cx="2468880" cy="347472"/>
          </a:xfrm>
          <a:prstGeom prst="rect">
            <a:avLst/>
          </a:prstGeom>
          <a:solidFill>
            <a:srgbClr val="1E1E35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493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of PYQs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493008"/>
            <a:ext cx="2468880" cy="347472"/>
          </a:xfrm>
          <a:prstGeom prst="rect">
            <a:avLst/>
          </a:prstGeom>
          <a:solidFill>
            <a:srgbClr val="1E1E35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493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Questions Indexed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3493008"/>
            <a:ext cx="2468880" cy="347472"/>
          </a:xfrm>
          <a:prstGeom prst="rect">
            <a:avLst/>
          </a:prstGeom>
          <a:solidFill>
            <a:srgbClr val="1E1E35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34930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+ RAG Intelligence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 ·  2026  ·  Built on open-weight models  ·  Zero ongoing API cost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 Every Aspirant Faces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68680"/>
            <a:ext cx="2697480" cy="1554480"/>
          </a:xfrm>
          <a:prstGeom prst="rect">
            <a:avLst/>
          </a:prstGeom>
          <a:solidFill>
            <a:srgbClr val="1E1E35"/>
          </a:solidFill>
          <a:ln w="25400">
            <a:solidFill>
              <a:srgbClr val="EF444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68680"/>
            <a:ext cx="269748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87552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18M+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11480" y="18288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compete annually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~90,000 NEET seats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19272" y="868680"/>
            <a:ext cx="2697480" cy="1554480"/>
          </a:xfrm>
          <a:prstGeom prst="rect">
            <a:avLst/>
          </a:prstGeom>
          <a:solidFill>
            <a:srgbClr val="1E1E35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19272" y="868680"/>
            <a:ext cx="2697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9272" y="987552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 yrs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19272" y="18288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exam papers rarely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systematically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7064" y="868680"/>
            <a:ext cx="2697480" cy="1554480"/>
          </a:xfrm>
          <a:prstGeom prst="rect">
            <a:avLst/>
          </a:prstGeom>
          <a:solidFill>
            <a:srgbClr val="1E1E35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27064" y="86868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7064" y="987552"/>
            <a:ext cx="2697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59+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227064" y="18288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per student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priority framework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606040"/>
            <a:ext cx="8321040" cy="233172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" y="2606040"/>
            <a:ext cx="54864" cy="2331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974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 Today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063240"/>
            <a:ext cx="7909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study from intuition — missing high-probability topics that repeat cyclically in PYQs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which chapters need 6h of focus vs. 30-min quick revision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of PYQs contain clear, learnable patterns — but they're locked in scanned PDFs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cannot deliver personalised study guidance across hundreds of students at once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51560"/>
            <a:ext cx="1536192" cy="1417320"/>
          </a:xfrm>
          <a:prstGeom prst="rect">
            <a:avLst/>
          </a:prstGeom>
          <a:solidFill>
            <a:srgbClr val="1E1E35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051560"/>
            <a:ext cx="1536192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61288"/>
            <a:ext cx="1536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yrs · 3 exams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47088" y="1760220"/>
            <a:ext cx="274320" cy="0"/>
          </a:xfrm>
          <a:prstGeom prst="line">
            <a:avLst/>
          </a:prstGeom>
          <a:noFill/>
          <a:ln w="19050">
            <a:solidFill>
              <a:srgbClr val="2A2A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93392" y="15773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57984" y="1051560"/>
            <a:ext cx="1536192" cy="1417320"/>
          </a:xfrm>
          <a:prstGeom prst="rect">
            <a:avLst/>
          </a:prstGeom>
          <a:solidFill>
            <a:srgbClr val="1E1E35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57984" y="1051560"/>
            <a:ext cx="1536192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7984" y="1161288"/>
            <a:ext cx="1536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57984" y="1828800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structured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30752" y="1760220"/>
            <a:ext cx="274320" cy="0"/>
          </a:xfrm>
          <a:prstGeom prst="line">
            <a:avLst/>
          </a:prstGeom>
          <a:noFill/>
          <a:ln w="19050">
            <a:solidFill>
              <a:srgbClr val="2A2A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77056" y="15773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041648" y="1051560"/>
            <a:ext cx="1536192" cy="1417320"/>
          </a:xfrm>
          <a:prstGeom prst="rect">
            <a:avLst/>
          </a:prstGeom>
          <a:solidFill>
            <a:srgbClr val="1E1E35"/>
          </a:solidFill>
          <a:ln w="2540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041648" y="1051560"/>
            <a:ext cx="1536192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41648" y="1161288"/>
            <a:ext cx="1536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041648" y="1828800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questions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14416" y="1760220"/>
            <a:ext cx="274320" cy="0"/>
          </a:xfrm>
          <a:prstGeom prst="line">
            <a:avLst/>
          </a:prstGeom>
          <a:noFill/>
          <a:ln w="19050">
            <a:solidFill>
              <a:srgbClr val="2A2A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5773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925312" y="1051560"/>
            <a:ext cx="1536192" cy="1417320"/>
          </a:xfrm>
          <a:prstGeom prst="rect">
            <a:avLst/>
          </a:prstGeom>
          <a:solidFill>
            <a:srgbClr val="1E1E35"/>
          </a:solidFill>
          <a:ln w="25400">
            <a:solidFill>
              <a:srgbClr val="A855F7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25312" y="1051560"/>
            <a:ext cx="1536192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25312" y="1161288"/>
            <a:ext cx="1536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Prajna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25312" y="1828800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+ RAG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Predictions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98080" y="1760220"/>
            <a:ext cx="274320" cy="0"/>
          </a:xfrm>
          <a:prstGeom prst="line">
            <a:avLst/>
          </a:prstGeom>
          <a:noFill/>
          <a:ln w="19050">
            <a:solidFill>
              <a:srgbClr val="2A2A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44384" y="15773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808976" y="1051560"/>
            <a:ext cx="1536192" cy="1417320"/>
          </a:xfrm>
          <a:prstGeom prst="rect">
            <a:avLst/>
          </a:prstGeom>
          <a:solidFill>
            <a:srgbClr val="1E1E35"/>
          </a:solidFill>
          <a:ln w="25400">
            <a:solidFill>
              <a:srgbClr val="22C55E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808976" y="1051560"/>
            <a:ext cx="1536192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08976" y="1161288"/>
            <a:ext cx="1536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API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808976" y="1828800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· Teachers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0040" y="2788920"/>
            <a:ext cx="2029968" cy="210312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2788920"/>
            <a:ext cx="54864" cy="21031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cost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8056" y="321868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questions once. All analysis runs fully offline thereafter — no recurring API costs.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68880" y="2788920"/>
            <a:ext cx="2029968" cy="210312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468880" y="2788920"/>
            <a:ext cx="54864" cy="21031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96896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596896" y="321868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+ Python run on any local machine. No cloud dependency after extraction.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17720" y="2788920"/>
            <a:ext cx="2029968" cy="210312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17720" y="2788920"/>
            <a:ext cx="54864" cy="21031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45736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SLM-powered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45736" y="321868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(Ollama / HuggingFace) generate RAG-grounded insights locally.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766560" y="2788920"/>
            <a:ext cx="2029968" cy="210312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766560" y="2788920"/>
            <a:ext cx="54864" cy="21031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94576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Multi-exam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94576" y="321868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 Main, JEE Advanced, and NEET share one unified pipeline, DB schema, and API.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 Years of Question Intelligence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670048" cy="1920240"/>
          </a:xfrm>
          <a:prstGeom prst="rect">
            <a:avLst/>
          </a:prstGeom>
          <a:solidFill>
            <a:srgbClr val="161628"/>
          </a:solidFill>
          <a:ln w="19050">
            <a:solidFill>
              <a:srgbClr val="22C55E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68680"/>
            <a:ext cx="2670048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" y="987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/ AIPMT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93776" y="13716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 – 2025 · 37 years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93776" y="16276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~3,200 Qs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93776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 ·  Chemistry  ·  Physics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670048" cy="1920240"/>
          </a:xfrm>
          <a:prstGeom prst="rect">
            <a:avLst/>
          </a:prstGeom>
          <a:solidFill>
            <a:srgbClr val="161628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68680"/>
            <a:ext cx="2670048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28416" y="987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 Main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28416" y="13716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 – 2025 · 23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8416" y="16276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~2,800 Qs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328416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 ·  Chemistry  ·  Physics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868680"/>
            <a:ext cx="2670048" cy="1920240"/>
          </a:xfrm>
          <a:prstGeom prst="rect">
            <a:avLst/>
          </a:prstGeom>
          <a:solidFill>
            <a:srgbClr val="161628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868680"/>
            <a:ext cx="267004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987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 Advanced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63056" y="13716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1985 – 2025 · 40 years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63056" y="16276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~2,100 Qs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163056" y="21031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 ·  Chemistry  ·  Physics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416052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2A2A4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3044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Question Schema (per-question extraction)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" y="3337560"/>
            <a:ext cx="3886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"exam": "NEET",  "year": 2024,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"subject": "Chemistry",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"topic": "Electrochemistry",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"micro_topic": "Nernst Equation",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"difficulty": 3,  "marks": 4,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"similar_to": ["NEET2021_Q14"] 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2971800"/>
            <a:ext cx="4069080" cy="41148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2971800"/>
            <a:ext cx="54864" cy="4114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2971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855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8,000+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29718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questions indexed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447288"/>
            <a:ext cx="4069080" cy="41148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3447288"/>
            <a:ext cx="54864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4472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signals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63640" y="344728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for ML difficulty model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922776"/>
            <a:ext cx="4069080" cy="41148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3922776"/>
            <a:ext cx="54864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392277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 offline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263640" y="392277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one-time Claude extraction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0" y="4398264"/>
            <a:ext cx="4069080" cy="411480"/>
          </a:xfrm>
          <a:prstGeom prst="rect">
            <a:avLst/>
          </a:prstGeom>
          <a:solidFill>
            <a:srgbClr val="161628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0" y="4398264"/>
            <a:ext cx="54864" cy="4114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439826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tables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263640" y="439826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· topics · patterns (SQLite)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Prajna Prediction Engine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868680"/>
            <a:ext cx="8321040" cy="914400"/>
          </a:xfrm>
          <a:prstGeom prst="rect">
            <a:avLst/>
          </a:prstGeom>
          <a:solidFill>
            <a:srgbClr val="0D1117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05256"/>
            <a:ext cx="80924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prediction_score  =  </a:t>
            </a:r>
            <a:pPr indent="0" marL="0">
              <a:buNone/>
            </a:pPr>
            <a:r>
              <a:rPr lang="en-US" sz="13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(trend_weight × frequency_trend)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 </a:t>
            </a:r>
            <a:pPr indent="0" marL="0">
              <a:buNone/>
            </a:pPr>
            <a:r>
              <a:rPr lang="en-US" sz="130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(cycle_weight × cycle_match)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+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(gap_weight × years_since_last)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 </a:t>
            </a:r>
            <a:pPr indent="0" marL="0">
              <a:buNone/>
            </a:pPr>
            <a:r>
              <a:rPr lang="en-US" sz="13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(cross_exam_weight × other_exam)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2011680" cy="1874520"/>
          </a:xfrm>
          <a:prstGeom prst="rect">
            <a:avLst/>
          </a:prstGeom>
          <a:solidFill>
            <a:srgbClr val="161628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920240"/>
            <a:ext cx="201168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Trend Analyzer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18470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frequency over time. Autocorrelation to detect repeating cycles. Hot/cold identification.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05456" y="1920240"/>
            <a:ext cx="2011680" cy="1874520"/>
          </a:xfrm>
          <a:prstGeom prst="rect">
            <a:avLst/>
          </a:prstGeom>
          <a:solidFill>
            <a:srgbClr val="161628"/>
          </a:solidFill>
          <a:ln w="12700">
            <a:solidFill>
              <a:srgbClr val="A855F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05456" y="1920240"/>
            <a:ext cx="2011680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6896" y="20116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Cycle Detector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96896" y="2423160"/>
            <a:ext cx="18470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that recur every 3–5 years flagged with high cycle weight. Time-series autocorrelation.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45152" y="1920240"/>
            <a:ext cx="2011680" cy="1874520"/>
          </a:xfrm>
          <a:prstGeom prst="rect">
            <a:avLst/>
          </a:prstGeom>
          <a:solidFill>
            <a:srgbClr val="1616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45152" y="1920240"/>
            <a:ext cx="20116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20116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Gap Scorer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2423160"/>
            <a:ext cx="18470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absent for many years gain weight. 'Due to appear' heuristic from historical absence.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84848" y="1920240"/>
            <a:ext cx="2011680" cy="1874520"/>
          </a:xfrm>
          <a:prstGeom prst="rect">
            <a:avLst/>
          </a:prstGeom>
          <a:solidFill>
            <a:srgbClr val="161628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84848" y="1920240"/>
            <a:ext cx="201168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2011680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Cross-Exam Signal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76288" y="2423160"/>
            <a:ext cx="184708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appearing in both JEE and NEET weighted higher. Inter-exam correlation boosts confidence.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77640"/>
            <a:ext cx="4709160" cy="914400"/>
          </a:xfrm>
          <a:prstGeom prst="rect">
            <a:avLst/>
          </a:prstGeom>
          <a:solidFill>
            <a:srgbClr val="1E1E35"/>
          </a:solidFill>
          <a:ln w="12700">
            <a:solidFill>
              <a:srgbClr val="2A2A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977640"/>
            <a:ext cx="54864" cy="9144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" y="40507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Priority Score: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2064" y="431596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  =  (100 − accuracy)  ×  (slm_importance ÷ 100)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257800" y="3977640"/>
            <a:ext cx="896112" cy="914400"/>
          </a:xfrm>
          <a:prstGeom prst="rect">
            <a:avLst/>
          </a:prstGeom>
          <a:solidFill>
            <a:srgbClr val="161628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3977640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27064" y="3977640"/>
            <a:ext cx="896112" cy="914400"/>
          </a:xfrm>
          <a:prstGeom prst="rect">
            <a:avLst/>
          </a:prstGeom>
          <a:solidFill>
            <a:srgbClr val="16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27064" y="3977640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96328" y="3977640"/>
            <a:ext cx="896112" cy="914400"/>
          </a:xfrm>
          <a:prstGeom prst="rect">
            <a:avLst/>
          </a:prstGeom>
          <a:solidFill>
            <a:srgbClr val="16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96328" y="3977640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65592" y="3977640"/>
            <a:ext cx="896112" cy="914400"/>
          </a:xfrm>
          <a:prstGeom prst="rect">
            <a:avLst/>
          </a:prstGeom>
          <a:solidFill>
            <a:srgbClr val="161628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65592" y="3977640"/>
            <a:ext cx="896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Prajna SLM Intelligence Layer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4160520" cy="1234440"/>
          </a:xfrm>
          <a:prstGeom prst="rect">
            <a:avLst/>
          </a:prstGeom>
          <a:solidFill>
            <a:srgbClr val="161628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841248"/>
            <a:ext cx="54864" cy="1234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252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4 Routers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499616"/>
            <a:ext cx="3840480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/predictions/rank-all — global topic ranking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/insights/chapter — SLM chapter analysis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/copilot/ask — conversational NL interface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/reports/revision-plan — full study plan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160520" cy="1234440"/>
          </a:xfrm>
          <a:prstGeom prst="rect">
            <a:avLst/>
          </a:prstGeom>
          <a:solidFill>
            <a:srgbClr val="161628"/>
          </a:solidFill>
          <a:ln w="19050">
            <a:solidFill>
              <a:srgbClr val="A855F7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176272"/>
            <a:ext cx="54864" cy="123444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877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+ RAG Engine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3840480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(Mistral 7B, Phi-3 — runs locally)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(MPS/CUDA device support)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compatible endpoint (cloud fallback)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 store for PYQ evidence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511296"/>
            <a:ext cx="4160520" cy="1234440"/>
          </a:xfrm>
          <a:prstGeom prst="rect">
            <a:avLst/>
          </a:prstGeom>
          <a:solidFill>
            <a:srgbClr val="161628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511296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6027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92277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&amp; Embeddings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4169664"/>
            <a:ext cx="3840480" cy="521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— 8,000+ structured questions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.pt embedding files per exam/level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· JEE Main · JEE Advanced models trained</a:t>
            </a:r>
            <a:endParaRPr lang="en-US" sz="10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Metadata-filtered RAG retrieval pipeline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841248"/>
            <a:ext cx="4114800" cy="1234440"/>
          </a:xfrm>
          <a:prstGeom prst="rect">
            <a:avLst/>
          </a:prstGeom>
          <a:solidFill>
            <a:srgbClr val="1E1E35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841248"/>
            <a:ext cx="54864" cy="1234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9326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Anti-Hallucination Guards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12801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SLM outputs grounded in retrieved PYQ evidence. Confidence scores gated by source quality. Automatic fallback to pure prediction signal when RAG retrieval quality is low.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176272"/>
            <a:ext cx="4114800" cy="1234440"/>
          </a:xfrm>
          <a:prstGeom prst="rect">
            <a:avLst/>
          </a:prstGeom>
          <a:solidFill>
            <a:srgbClr val="1E1E35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176272"/>
            <a:ext cx="54864" cy="1234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2677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4-Stage Evaluation Pipeline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2615184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accuracy ≥ 85%  ·  Factual consistency ≥ 75%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quality (Kendall τ) ≥ 0.70  ·  Insight usefulness ≥ 80%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latency ≤ 3,000ms (Ollama 7B)  ·  Fallback rate ≤ 10%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511296"/>
            <a:ext cx="4114800" cy="1234440"/>
          </a:xfrm>
          <a:prstGeom prst="rect">
            <a:avLst/>
          </a:prstGeom>
          <a:solidFill>
            <a:srgbClr val="1E1E35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511296"/>
            <a:ext cx="54864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027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Zero-Code Provider Switching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50208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abstraction layer switches between Ollama, HuggingFace (MPS/CUDA), and OpenAI — zero code changes required. Swap via .env config. Mock provider available for CI.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Student Intelligence Dashboard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per-student window into performance, prediction alignment, and AI-guided revision — all client-side, zero backend cost.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84048" y="1170432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170432"/>
            <a:ext cx="2651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1280160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Hero Performance Card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" y="1719072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score, rank, improvement %, consistency score — at a glance with trajectory context.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91256" y="1170432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91256" y="1170432"/>
            <a:ext cx="265176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00984" y="1280160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Score Trajectory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00984" y="1719072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across 10 mock exams. Trend-per-exam trendline. Multi-subject overlay on one canvas.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98464" y="1170432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A855F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98464" y="1170432"/>
            <a:ext cx="2651760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1280160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Chapter Performance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08192" y="1719072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59 chapters grouped by subject (Botany/Zoology/Chem/Physics/Maths), sorted weakest-first with M/S/D/W/C badges.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4048" y="3108960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4048" y="3108960"/>
            <a:ext cx="265176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3218688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Priority Focus Areas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" y="3657600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Prajna-ranked chapters: high gap AND high exam-appearance probability. Sorted by priority score.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91256" y="3108960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91256" y="3108960"/>
            <a:ext cx="265176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3218688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Live Intelligence Feed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00984" y="3657600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top-18 ranked topic predictions from the Intelligence API. Weak-zone matches highlighted with ★ badge.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98464" y="3108960"/>
            <a:ext cx="2651760" cy="1828800"/>
          </a:xfrm>
          <a:prstGeom prst="rect">
            <a:avLst/>
          </a:prstGeom>
          <a:solidFill>
            <a:srgbClr val="161628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98464" y="3108960"/>
            <a:ext cx="265176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08192" y="3218688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Student Copilot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08192" y="3657600"/>
            <a:ext cx="245059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Q&amp;A grounded in the student's actual performance data. Multi-turn memory, pre-seeded question suggestions.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Prajna-Powered Subject-Wise Study Guide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advisor for ALL chapters — not just top 5. Tells students what to study, how long, in what order, and why.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4041648" cy="612648"/>
          </a:xfrm>
          <a:prstGeom prst="rect">
            <a:avLst/>
          </a:prstGeom>
          <a:solidFill>
            <a:srgbClr val="161628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15568"/>
            <a:ext cx="54864" cy="6126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115568"/>
            <a:ext cx="3895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Panel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84632" y="142646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urgency (avg priority score desc)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1810512"/>
            <a:ext cx="3767328" cy="612648"/>
          </a:xfrm>
          <a:prstGeom prst="rect">
            <a:avLst/>
          </a:prstGeom>
          <a:solidFill>
            <a:srgbClr val="161628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10512"/>
            <a:ext cx="54864" cy="612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810512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Row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58952" y="2121408"/>
            <a:ext cx="362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#1, #2… · dual bars: accuracy + Prajna importance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505456"/>
            <a:ext cx="3493008" cy="612648"/>
          </a:xfrm>
          <a:prstGeom prst="rect">
            <a:avLst/>
          </a:prstGeom>
          <a:solidFill>
            <a:srgbClr val="161628"/>
          </a:solidFill>
          <a:ln w="19050">
            <a:solidFill>
              <a:srgbClr val="A855F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2505456"/>
            <a:ext cx="54864" cy="61264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3272" y="2505456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Detail Card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33272" y="2816352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hours · Trend arrow · Gap to next mastery level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88720" y="3200400"/>
            <a:ext cx="3218688" cy="612648"/>
          </a:xfrm>
          <a:prstGeom prst="rect">
            <a:avLst/>
          </a:prstGeom>
          <a:solidFill>
            <a:srgbClr val="161628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3200400"/>
            <a:ext cx="54864" cy="612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07592" y="320040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Micro-Topic Chips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307592" y="3511296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Lazy-fetched from API · cached in Map · top 3 micro-topics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463040" y="3895344"/>
            <a:ext cx="2944368" cy="612648"/>
          </a:xfrm>
          <a:prstGeom prst="rect">
            <a:avLst/>
          </a:prstGeom>
          <a:solidFill>
            <a:srgbClr val="161628"/>
          </a:solidFill>
          <a:ln w="19050">
            <a:solidFill>
              <a:srgbClr val="22C55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463040" y="3895344"/>
            <a:ext cx="54864" cy="6126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81912" y="3895344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Strategy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581912" y="4206240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 × 3 trend directions = 13 unique text templates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1115568"/>
            <a:ext cx="4160520" cy="658368"/>
          </a:xfrm>
          <a:prstGeom prst="rect">
            <a:avLst/>
          </a:prstGeom>
          <a:solidFill>
            <a:srgbClr val="1E1E35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63440" y="1115568"/>
            <a:ext cx="54864" cy="6583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11704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 Formula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73168" y="14264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  =  (100 − acc)  ×  (slmImp ÷ 100)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865376"/>
            <a:ext cx="4160520" cy="658368"/>
          </a:xfrm>
          <a:prstGeom prst="rect">
            <a:avLst/>
          </a:prstGeom>
          <a:solidFill>
            <a:srgbClr val="1E1E3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1865376"/>
            <a:ext cx="54864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19202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Hours by Level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73168" y="21762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→ 6h   W → 4h   D → 2.5h   S → 1h   M → 0.5h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2615184"/>
            <a:ext cx="4160520" cy="658368"/>
          </a:xfrm>
          <a:prstGeom prst="rect">
            <a:avLst/>
          </a:prstGeom>
          <a:solidFill>
            <a:srgbClr val="1E1E35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2615184"/>
            <a:ext cx="54864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73168" y="26700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Thresholds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73168" y="29260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Urgent: avg &gt; 35  ·  Moderate: 20–35  ·  On Track: &lt; 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364992"/>
            <a:ext cx="4160520" cy="658368"/>
          </a:xfrm>
          <a:prstGeom prst="rect">
            <a:avLst/>
          </a:prstGeom>
          <a:solidFill>
            <a:srgbClr val="1E1E35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63440" y="3364992"/>
            <a:ext cx="54864" cy="6583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3419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+ Cache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773168" y="3675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Micro-topics fetched only on chapter expand. Map cache prevents duplicate API calls per session.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4114800"/>
            <a:ext cx="4160520" cy="658368"/>
          </a:xfrm>
          <a:prstGeom prst="rect">
            <a:avLst/>
          </a:prstGeom>
          <a:solidFill>
            <a:srgbClr val="1E1E3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0" y="4114800"/>
            <a:ext cx="54864" cy="6583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73168" y="41696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Gap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73168" y="442569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pctLevel() boundary − accuracy. Thresholds: C→25, W→45, D→65, S→80, M→100.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Development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" y="1847088"/>
            <a:ext cx="7589520" cy="0"/>
          </a:xfrm>
          <a:prstGeom prst="line">
            <a:avLst/>
          </a:prstGeom>
          <a:noFill/>
          <a:ln w="19050">
            <a:solidFill>
              <a:srgbClr val="2A2A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417320"/>
            <a:ext cx="868680" cy="8686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" y="2423160"/>
            <a:ext cx="2011680" cy="2514600"/>
          </a:xfrm>
          <a:prstGeom prst="rect">
            <a:avLst/>
          </a:prstGeom>
          <a:solidFill>
            <a:srgbClr val="161628"/>
          </a:solidFill>
          <a:ln w="19050">
            <a:solidFill>
              <a:srgbClr val="22C55E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2423160"/>
            <a:ext cx="201168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API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  ·  ✅ Complete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182880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+ ranking API (no SLM)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with 4 core routers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scoring + urgency tiers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cluster detection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35224" y="1417320"/>
            <a:ext cx="868680" cy="8686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35224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496312" y="2423160"/>
            <a:ext cx="2011680" cy="2514600"/>
          </a:xfrm>
          <a:prstGeom prst="rect">
            <a:avLst/>
          </a:prstGeom>
          <a:solidFill>
            <a:srgbClr val="161628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2423160"/>
            <a:ext cx="201168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Insights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06040" y="29077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wks  ·  ✅ Complete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3200400"/>
            <a:ext cx="182880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SLM (Ollama / HF / OpenAI)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with ChromaDB vector store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Anti-hallucination prompt guards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plan + trend analysis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417320"/>
            <a:ext cx="868680" cy="86868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4064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45152" y="2423160"/>
            <a:ext cx="2011680" cy="2514600"/>
          </a:xfrm>
          <a:prstGeom prst="rect">
            <a:avLst/>
          </a:prstGeom>
          <a:solidFill>
            <a:srgbClr val="161628"/>
          </a:solidFill>
          <a:ln w="19050">
            <a:solidFill>
              <a:srgbClr val="A855F7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45152" y="2423160"/>
            <a:ext cx="2011680" cy="6400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&amp; Dashboard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29077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wks  ·  🔵 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3200400"/>
            <a:ext cx="182880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conversational copilot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Student-personalised recommendations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Subject-wise interactive study guide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class-level intelligence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32904" y="1417320"/>
            <a:ext cx="868680" cy="8686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2904" y="1417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793992" y="2423160"/>
            <a:ext cx="2011680" cy="2514600"/>
          </a:xfrm>
          <a:prstGeom prst="rect">
            <a:avLst/>
          </a:prstGeom>
          <a:solidFill>
            <a:srgbClr val="161628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93992" y="2423160"/>
            <a:ext cx="20116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&amp; 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29077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wks  ·  Planned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03720" y="3200400"/>
            <a:ext cx="1828800" cy="1627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accuracy benchmarks ≥ 85%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prompt testing harness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collection (thumbs up/down)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Auto-regression tests in CI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2E8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on a Zero-Cost Stack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868680"/>
            <a:ext cx="2478024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8686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63240" y="868680"/>
            <a:ext cx="2478024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8686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Framework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42432" y="868680"/>
            <a:ext cx="1197864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33872" y="868680"/>
            <a:ext cx="1106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" y="1261872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3240" y="1261872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42432" y="1261872"/>
            <a:ext cx="119786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261872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54680" y="1261872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(one-time)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833872" y="1261872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4048" y="1586484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63240" y="1586484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42432" y="1586484"/>
            <a:ext cx="119786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586484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54680" y="1586484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833872" y="1586484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84048" y="1911096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1911096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42432" y="1911096"/>
            <a:ext cx="119786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1911096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Classifier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154680" y="1911096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+ PyTorch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833872" y="1911096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4048" y="2235708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63240" y="2235708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42432" y="2235708"/>
            <a:ext cx="119786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2235708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154680" y="2235708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33872" y="2235708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4048" y="2560320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63240" y="2560320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42432" y="2560320"/>
            <a:ext cx="119786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" y="2560320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Inference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154680" y="2560320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(Mistral 7B, Phi-3)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833872" y="2560320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(local)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84048" y="2884932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63240" y="2884932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42432" y="2884932"/>
            <a:ext cx="119786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" y="2884932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154680" y="2884932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833872" y="2884932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84048" y="3209544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63240" y="3209544"/>
            <a:ext cx="247802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42432" y="3209544"/>
            <a:ext cx="1197864" cy="301752"/>
          </a:xfrm>
          <a:prstGeom prst="rect">
            <a:avLst/>
          </a:prstGeom>
          <a:solidFill>
            <a:srgbClr val="161628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" y="3209544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154680" y="3209544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833872" y="3209544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384048" y="3534156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63240" y="3534156"/>
            <a:ext cx="247802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742432" y="3534156"/>
            <a:ext cx="1197864" cy="301752"/>
          </a:xfrm>
          <a:prstGeom prst="rect">
            <a:avLst/>
          </a:prstGeom>
          <a:solidFill>
            <a:srgbClr val="1E1E35"/>
          </a:solidFill>
          <a:ln w="6350">
            <a:solidFill>
              <a:srgbClr val="2A2A4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488" y="3534156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154680" y="3534156"/>
            <a:ext cx="2386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HTML / JS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833872" y="3534156"/>
            <a:ext cx="1106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84048" y="3977640"/>
            <a:ext cx="8375904" cy="932688"/>
          </a:xfrm>
          <a:prstGeom prst="rect">
            <a:avLst/>
          </a:prstGeom>
          <a:solidFill>
            <a:srgbClr val="1E1E35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84048" y="3977640"/>
            <a:ext cx="54864" cy="93268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66928" y="4041648"/>
            <a:ext cx="8046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PRAJNA's mission: democratize exam intelligence. Every student — regardless of coaching budget — deserves the same data-driven edge previously available only to the most well-resourced.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PRAJNA — AI-Powered Exam Intelligence</dc:title>
  <dc:subject>PptxGenJS Presentation</dc:subject>
  <dc:creator>Prajna Team</dc:creator>
  <cp:lastModifiedBy>Prajna Team</cp:lastModifiedBy>
  <cp:revision>1</cp:revision>
  <dcterms:created xsi:type="dcterms:W3CDTF">2026-03-22T10:04:18Z</dcterms:created>
  <dcterms:modified xsi:type="dcterms:W3CDTF">2026-03-22T10:04:18Z</dcterms:modified>
</cp:coreProperties>
</file>