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97280" y="-731520"/>
            <a:ext cx="4572000" cy="4572000"/>
          </a:xfrm>
          <a:prstGeom prst="ellipse">
            <a:avLst/>
          </a:prstGeom>
          <a:solidFill>
            <a:srgbClr val="7C3AED">
              <a:alpha val="12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0" y="1828800"/>
            <a:ext cx="3200400" cy="3200400"/>
          </a:xfrm>
          <a:prstGeom prst="ellipse">
            <a:avLst/>
          </a:prstGeom>
          <a:solidFill>
            <a:srgbClr val="06B6D4">
              <a:alpha val="8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234440"/>
            <a:ext cx="64008" cy="25603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143000"/>
            <a:ext cx="73152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600" b="1" dirty="0">
                <a:solidFill>
                  <a:srgbClr val="A855F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PRAJNA</a:t>
            </a:r>
            <a:endParaRPr lang="en-US" sz="7600" dirty="0"/>
          </a:p>
        </p:txBody>
      </p:sp>
      <p:sp>
        <p:nvSpPr>
          <p:cNvPr id="6" name="Text 4"/>
          <p:cNvSpPr/>
          <p:nvPr/>
        </p:nvSpPr>
        <p:spPr>
          <a:xfrm>
            <a:off x="777240" y="2423160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Personalized Revision &amp; Academic Journey Navigation Assistant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77240" y="2944368"/>
            <a:ext cx="6583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Exam Intelligence for NEET · JEE Main · JEE Advanced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77240" y="3456432"/>
            <a:ext cx="2331720" cy="329184"/>
          </a:xfrm>
          <a:prstGeom prst="rect">
            <a:avLst/>
          </a:prstGeom>
          <a:solidFill>
            <a:srgbClr val="1E1E35"/>
          </a:solidFill>
          <a:ln w="12700">
            <a:solidFill>
              <a:srgbClr val="2A2A4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3456432"/>
            <a:ext cx="2331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Years of PYQs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291840" y="3456432"/>
            <a:ext cx="2331720" cy="329184"/>
          </a:xfrm>
          <a:prstGeom prst="rect">
            <a:avLst/>
          </a:prstGeom>
          <a:solidFill>
            <a:srgbClr val="1E1E35"/>
          </a:solidFill>
          <a:ln w="12700">
            <a:solidFill>
              <a:srgbClr val="2A2A4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91840" y="3456432"/>
            <a:ext cx="2331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8,000+ Questions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806440" y="3456432"/>
            <a:ext cx="2331720" cy="329184"/>
          </a:xfrm>
          <a:prstGeom prst="rect">
            <a:avLst/>
          </a:prstGeom>
          <a:solidFill>
            <a:srgbClr val="1E1E35"/>
          </a:solidFill>
          <a:ln w="12700">
            <a:solidFill>
              <a:srgbClr val="2A2A4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806440" y="3456432"/>
            <a:ext cx="2331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SLM + RAG Intelligence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0" y="4773168"/>
            <a:ext cx="9144000" cy="370332"/>
          </a:xfrm>
          <a:prstGeom prst="rect">
            <a:avLst/>
          </a:prstGeom>
          <a:solidFill>
            <a:srgbClr val="7C3AED">
              <a:alpha val="15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0" y="4773168"/>
            <a:ext cx="9144000" cy="3703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v2.0  ·  2026  ·  Open-weight models  ·  Zero ongoing API cost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E2E8F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Challenge Every Aspirant Faces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38912" y="877824"/>
            <a:ext cx="2578608" cy="1554480"/>
          </a:xfrm>
          <a:prstGeom prst="rect">
            <a:avLst/>
          </a:prstGeom>
          <a:solidFill>
            <a:srgbClr val="1E1E35"/>
          </a:solidFill>
          <a:ln w="25400">
            <a:solidFill>
              <a:srgbClr val="EF4444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38912" y="877824"/>
            <a:ext cx="2578608" cy="6400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38912" y="987552"/>
            <a:ext cx="25786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EF44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18M+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438912" y="1828800"/>
            <a:ext cx="257860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appear annually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~90,000 NEET seats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27832" y="877824"/>
            <a:ext cx="2578608" cy="1554480"/>
          </a:xfrm>
          <a:prstGeom prst="rect">
            <a:avLst/>
          </a:prstGeom>
          <a:solidFill>
            <a:srgbClr val="1E1E35"/>
          </a:solidFill>
          <a:ln w="25400">
            <a:solidFill>
              <a:srgbClr val="F59E0B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27832" y="877824"/>
            <a:ext cx="2578608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27832" y="987552"/>
            <a:ext cx="25786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40 yrs</a:t>
            </a:r>
            <a:endParaRPr lang="en-US" sz="4600" dirty="0"/>
          </a:p>
        </p:txBody>
      </p:sp>
      <p:sp>
        <p:nvSpPr>
          <p:cNvPr id="10" name="Text 8"/>
          <p:cNvSpPr/>
          <p:nvPr/>
        </p:nvSpPr>
        <p:spPr>
          <a:xfrm>
            <a:off x="3227832" y="1828800"/>
            <a:ext cx="257860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exam papers rarely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analysed systematically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016752" y="877824"/>
            <a:ext cx="2578608" cy="1554480"/>
          </a:xfrm>
          <a:prstGeom prst="rect">
            <a:avLst/>
          </a:prstGeom>
          <a:solidFill>
            <a:srgbClr val="1E1E35"/>
          </a:solidFill>
          <a:ln w="25400">
            <a:solidFill>
              <a:srgbClr val="A855F7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016752" y="877824"/>
            <a:ext cx="2578608" cy="64008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016752" y="987552"/>
            <a:ext cx="25786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A855F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59+</a:t>
            </a:r>
            <a:endParaRPr lang="en-US" sz="4600" dirty="0"/>
          </a:p>
        </p:txBody>
      </p:sp>
      <p:sp>
        <p:nvSpPr>
          <p:cNvPr id="14" name="Text 12"/>
          <p:cNvSpPr/>
          <p:nvPr/>
        </p:nvSpPr>
        <p:spPr>
          <a:xfrm>
            <a:off x="6016752" y="1828800"/>
            <a:ext cx="257860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Chapters per student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clear priority framework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38912" y="2633472"/>
            <a:ext cx="8266176" cy="1993392"/>
          </a:xfrm>
          <a:prstGeom prst="rect">
            <a:avLst/>
          </a:prstGeom>
          <a:solidFill>
            <a:srgbClr val="161628"/>
          </a:solidFill>
          <a:ln w="12700">
            <a:solidFill>
              <a:srgbClr val="2A2A4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38912" y="2633472"/>
            <a:ext cx="54864" cy="1993392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1792" y="2706624"/>
            <a:ext cx="7955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Missing Today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58368" y="3054096"/>
            <a:ext cx="7882128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study from intuition — missing high-probability topics that repeat cyclically in PYQs</a:t>
            </a:r>
            <a:endParaRPr lang="en-US" sz="1250" dirty="0"/>
          </a:p>
          <a:p>
            <a:pPr algn="l" marL="342900" indent="-3429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visibility into which chapters need 6h of focus vs. 30 min quick revision</a:t>
            </a:r>
            <a:endParaRPr lang="en-US" sz="1250" dirty="0"/>
          </a:p>
          <a:p>
            <a:pPr algn="l" marL="342900" indent="-3429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years of PYQs contain clear patterns — but they're locked in scanned PDFs</a:t>
            </a:r>
            <a:endParaRPr lang="en-US" sz="1250" dirty="0"/>
          </a:p>
          <a:p>
            <a:pPr algn="l" marL="342900" indent="-3429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Teachers cannot deliver personalised guidance across hundreds of students simultaneously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E2E8F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System Architecture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01752" y="1024128"/>
            <a:ext cx="1426464" cy="1371600"/>
          </a:xfrm>
          <a:prstGeom prst="rect">
            <a:avLst/>
          </a:prstGeom>
          <a:solidFill>
            <a:srgbClr val="1E1E35"/>
          </a:solidFill>
          <a:ln w="25400">
            <a:solidFill>
              <a:srgbClr val="F59E0B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301752" y="1024128"/>
            <a:ext cx="1426464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01752" y="1133856"/>
            <a:ext cx="142646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01752" y="1810512"/>
            <a:ext cx="1426464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yrs · 3 exams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1764792" y="1709928"/>
            <a:ext cx="201168" cy="0"/>
          </a:xfrm>
          <a:prstGeom prst="line">
            <a:avLst/>
          </a:prstGeom>
          <a:noFill/>
          <a:ln w="19050">
            <a:solidFill>
              <a:srgbClr val="2A2A4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819656" y="1508760"/>
            <a:ext cx="2011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4A3B8"/>
                </a:solidFill>
              </a:rPr>
              <a:t>›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2002536" y="1024128"/>
            <a:ext cx="1426464" cy="1371600"/>
          </a:xfrm>
          <a:prstGeom prst="rect">
            <a:avLst/>
          </a:prstGeom>
          <a:solidFill>
            <a:srgbClr val="1E1E35"/>
          </a:solidFill>
          <a:ln w="25400">
            <a:solidFill>
              <a:srgbClr val="7C3AED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002536" y="1024128"/>
            <a:ext cx="1426464" cy="640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002536" y="1133856"/>
            <a:ext cx="142646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AI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002536" y="1810512"/>
            <a:ext cx="1426464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One-time structured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465576" y="1709928"/>
            <a:ext cx="201168" cy="0"/>
          </a:xfrm>
          <a:prstGeom prst="line">
            <a:avLst/>
          </a:prstGeom>
          <a:noFill/>
          <a:ln w="19050">
            <a:solidFill>
              <a:srgbClr val="2A2A4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20440" y="1508760"/>
            <a:ext cx="2011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4A3B8"/>
                </a:solidFill>
              </a:rPr>
              <a:t>›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3703320" y="1024128"/>
            <a:ext cx="1426464" cy="1371600"/>
          </a:xfrm>
          <a:prstGeom prst="rect">
            <a:avLst/>
          </a:prstGeom>
          <a:solidFill>
            <a:srgbClr val="1E1E35"/>
          </a:solidFill>
          <a:ln w="25400">
            <a:solidFill>
              <a:srgbClr val="06B6D4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703320" y="1024128"/>
            <a:ext cx="1426464" cy="6400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703320" y="1133856"/>
            <a:ext cx="142646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703320" y="1810512"/>
            <a:ext cx="1426464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8,000+ questions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indexed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166360" y="1709928"/>
            <a:ext cx="201168" cy="0"/>
          </a:xfrm>
          <a:prstGeom prst="line">
            <a:avLst/>
          </a:prstGeom>
          <a:noFill/>
          <a:ln w="19050">
            <a:solidFill>
              <a:srgbClr val="2A2A4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221224" y="1508760"/>
            <a:ext cx="2011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4A3B8"/>
                </a:solidFill>
              </a:rPr>
              <a:t>›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5404104" y="1024128"/>
            <a:ext cx="1426464" cy="1371600"/>
          </a:xfrm>
          <a:prstGeom prst="rect">
            <a:avLst/>
          </a:prstGeom>
          <a:solidFill>
            <a:srgbClr val="1E1E35"/>
          </a:solidFill>
          <a:ln w="25400">
            <a:solidFill>
              <a:srgbClr val="A855F7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404104" y="1024128"/>
            <a:ext cx="1426464" cy="64008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04104" y="1133856"/>
            <a:ext cx="142646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Prajna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404104" y="1810512"/>
            <a:ext cx="1426464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SLM + RAG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Predictions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867144" y="1709928"/>
            <a:ext cx="201168" cy="0"/>
          </a:xfrm>
          <a:prstGeom prst="line">
            <a:avLst/>
          </a:prstGeom>
          <a:noFill/>
          <a:ln w="19050">
            <a:solidFill>
              <a:srgbClr val="2A2A4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922008" y="1508760"/>
            <a:ext cx="2011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4A3B8"/>
                </a:solidFill>
              </a:rPr>
              <a:t>›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7104888" y="1024128"/>
            <a:ext cx="1426464" cy="1371600"/>
          </a:xfrm>
          <a:prstGeom prst="rect">
            <a:avLst/>
          </a:prstGeom>
          <a:solidFill>
            <a:srgbClr val="1E1E35"/>
          </a:solidFill>
          <a:ln w="25400">
            <a:solidFill>
              <a:srgbClr val="22C55E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7104888" y="1024128"/>
            <a:ext cx="1426464" cy="6400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104888" y="1133856"/>
            <a:ext cx="142646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API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7104888" y="1810512"/>
            <a:ext cx="1426464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· Teachers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301752" y="2816352"/>
            <a:ext cx="2029968" cy="1938528"/>
          </a:xfrm>
          <a:prstGeom prst="rect">
            <a:avLst/>
          </a:prstGeom>
          <a:solidFill>
            <a:srgbClr val="161628"/>
          </a:solidFill>
          <a:ln w="12700">
            <a:solidFill>
              <a:srgbClr val="2A2A4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301752" y="2816352"/>
            <a:ext cx="54864" cy="1938528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29768" y="2889504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One-time cost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429768" y="3246120"/>
            <a:ext cx="182880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extracts questions once. All analysis runs fully offline — no recurring API costs.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2450592" y="2816352"/>
            <a:ext cx="2029968" cy="1938528"/>
          </a:xfrm>
          <a:prstGeom prst="rect">
            <a:avLst/>
          </a:prstGeom>
          <a:solidFill>
            <a:srgbClr val="161628"/>
          </a:solidFill>
          <a:ln w="12700">
            <a:solidFill>
              <a:srgbClr val="2A2A4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2450592" y="2816352"/>
            <a:ext cx="54864" cy="1938528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578608" y="2889504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Offline-first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2578608" y="3246120"/>
            <a:ext cx="182880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+ Python run on any local machine. No cloud dependency after extraction.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4599432" y="2816352"/>
            <a:ext cx="2029968" cy="1938528"/>
          </a:xfrm>
          <a:prstGeom prst="rect">
            <a:avLst/>
          </a:prstGeom>
          <a:solidFill>
            <a:srgbClr val="161628"/>
          </a:solidFill>
          <a:ln w="12700">
            <a:solidFill>
              <a:srgbClr val="2A2A4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4599432" y="2816352"/>
            <a:ext cx="54864" cy="1938528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727448" y="2889504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SLM-powered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4727448" y="3246120"/>
            <a:ext cx="182880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Open-weight models (Ollama / HuggingFace) generate RAG-grounded insights locally.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6748272" y="2816352"/>
            <a:ext cx="2029968" cy="1938528"/>
          </a:xfrm>
          <a:prstGeom prst="rect">
            <a:avLst/>
          </a:prstGeom>
          <a:solidFill>
            <a:srgbClr val="161628"/>
          </a:solidFill>
          <a:ln w="12700">
            <a:solidFill>
              <a:srgbClr val="2A2A4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6748272" y="2816352"/>
            <a:ext cx="54864" cy="1938528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876288" y="2889504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Multi-exam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6876288" y="3246120"/>
            <a:ext cx="182880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JEE Main, JEE Advanced, and NEET share one unified pipeline, DB schema, and API.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E2E8F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40 Years of Question Intelligence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84048" y="877824"/>
            <a:ext cx="2651760" cy="1920240"/>
          </a:xfrm>
          <a:prstGeom prst="rect">
            <a:avLst/>
          </a:prstGeom>
          <a:solidFill>
            <a:srgbClr val="161628"/>
          </a:solidFill>
          <a:ln w="19050">
            <a:solidFill>
              <a:srgbClr val="22C55E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384048" y="877824"/>
            <a:ext cx="2651760" cy="6400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12064" y="987552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NEET / AIPMT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12064" y="1371600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1988–2025 · 37 years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12064" y="1627632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E2E8F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~3,200 Qs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512064" y="2103120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Biology  ·  Chemistry  ·  Physics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00400" y="877824"/>
            <a:ext cx="2651760" cy="1920240"/>
          </a:xfrm>
          <a:prstGeom prst="rect">
            <a:avLst/>
          </a:prstGeom>
          <a:solidFill>
            <a:srgbClr val="161628"/>
          </a:solidFill>
          <a:ln w="19050">
            <a:solidFill>
              <a:srgbClr val="06B6D4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0" y="877824"/>
            <a:ext cx="2651760" cy="6400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28416" y="987552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JEE Main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328416" y="1371600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2002–2025 · 23 years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328416" y="1627632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E2E8F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~2,800 Qs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3328416" y="2103120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Mathematics  ·  Chemistry  ·  Physics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016752" y="877824"/>
            <a:ext cx="2651760" cy="1920240"/>
          </a:xfrm>
          <a:prstGeom prst="rect">
            <a:avLst/>
          </a:prstGeom>
          <a:solidFill>
            <a:srgbClr val="161628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016752" y="877824"/>
            <a:ext cx="265176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44768" y="987552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JEE Advanced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144768" y="1371600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1985–2025 · 40 years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144768" y="1627632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E2E8F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~2,100 Qs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6144768" y="2103120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Mathematics  ·  Chemistry  ·  Physics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84048" y="2944368"/>
            <a:ext cx="4160520" cy="1783080"/>
          </a:xfrm>
          <a:prstGeom prst="rect">
            <a:avLst/>
          </a:prstGeom>
          <a:solidFill>
            <a:srgbClr val="0D1117"/>
          </a:solidFill>
          <a:ln w="12700">
            <a:solidFill>
              <a:srgbClr val="2A2A4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21208" y="3017520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Question Schema (per-question extraction)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521208" y="3310128"/>
            <a:ext cx="388620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"exam": "NEET",  "year": 2024,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"subject": "Chemistry",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"topic": "Electrochemistry",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"micro_topic": "Nernst Equation",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"difficulty": 3,  "marks": 4 }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736592" y="2944368"/>
            <a:ext cx="4023360" cy="365760"/>
          </a:xfrm>
          <a:prstGeom prst="rect">
            <a:avLst/>
          </a:prstGeom>
          <a:solidFill>
            <a:srgbClr val="161628"/>
          </a:solidFill>
          <a:ln w="12700">
            <a:solidFill>
              <a:srgbClr val="2A2A4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736592" y="2944368"/>
            <a:ext cx="54864" cy="365760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64608" y="2944368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A855F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8,000+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6236208" y="2944368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questions indexed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736592" y="3383280"/>
            <a:ext cx="4023360" cy="365760"/>
          </a:xfrm>
          <a:prstGeom prst="rect">
            <a:avLst/>
          </a:prstGeom>
          <a:solidFill>
            <a:srgbClr val="161628"/>
          </a:solidFill>
          <a:ln w="12700">
            <a:solidFill>
              <a:srgbClr val="2A2A4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736592" y="3383280"/>
            <a:ext cx="54864" cy="3657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64608" y="338328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 signals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6236208" y="3383280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question for ML difficulty model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4736592" y="3822192"/>
            <a:ext cx="4023360" cy="365760"/>
          </a:xfrm>
          <a:prstGeom prst="rect">
            <a:avLst/>
          </a:prstGeom>
          <a:solidFill>
            <a:srgbClr val="161628"/>
          </a:solidFill>
          <a:ln w="12700">
            <a:solidFill>
              <a:srgbClr val="2A2A48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736592" y="3822192"/>
            <a:ext cx="54864" cy="36576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64608" y="3822192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2C55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100% offline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6236208" y="3822192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one-time Claude extraction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4736592" y="4261104"/>
            <a:ext cx="4023360" cy="365760"/>
          </a:xfrm>
          <a:prstGeom prst="rect">
            <a:avLst/>
          </a:prstGeom>
          <a:solidFill>
            <a:srgbClr val="161628"/>
          </a:solidFill>
          <a:ln w="12700">
            <a:solidFill>
              <a:srgbClr val="2A2A48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736592" y="4261104"/>
            <a:ext cx="54864" cy="36576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64608" y="4261104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6B6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 tables</a:t>
            </a:r>
            <a:endParaRPr lang="en-US" sz="1500" dirty="0"/>
          </a:p>
        </p:txBody>
      </p:sp>
      <p:sp>
        <p:nvSpPr>
          <p:cNvPr id="39" name="Text 37"/>
          <p:cNvSpPr/>
          <p:nvPr/>
        </p:nvSpPr>
        <p:spPr>
          <a:xfrm>
            <a:off x="6236208" y="4261104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· topics · patterns (SQLite)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E2E8F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Prajna Prediction Engine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11480" y="868680"/>
            <a:ext cx="8321040" cy="914400"/>
          </a:xfrm>
          <a:prstGeom prst="rect">
            <a:avLst/>
          </a:prstGeom>
          <a:solidFill>
            <a:srgbClr val="0D1117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66928" y="905256"/>
            <a:ext cx="8065008" cy="8503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score  =  (w_trend × freq)  +  (w_cycle × cycle_match)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+  (w_gap × years_since_last)  +  (w_cross × other_exam)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920240"/>
            <a:ext cx="2011680" cy="1810512"/>
          </a:xfrm>
          <a:prstGeom prst="rect">
            <a:avLst/>
          </a:prstGeom>
          <a:solidFill>
            <a:srgbClr val="161628"/>
          </a:solidFill>
          <a:ln w="12700">
            <a:solidFill>
              <a:srgbClr val="06B6D4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920240"/>
            <a:ext cx="2011680" cy="6400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011680"/>
            <a:ext cx="18470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 Trend Analyzer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2423160"/>
            <a:ext cx="1847088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frequency over time. Autocorrelation detects repeating cycles. Hot/cold identification.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505456" y="1920240"/>
            <a:ext cx="2011680" cy="1810512"/>
          </a:xfrm>
          <a:prstGeom prst="rect">
            <a:avLst/>
          </a:prstGeom>
          <a:solidFill>
            <a:srgbClr val="161628"/>
          </a:solidFill>
          <a:ln w="12700">
            <a:solidFill>
              <a:srgbClr val="A855F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505456" y="1920240"/>
            <a:ext cx="2011680" cy="64008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96896" y="2011680"/>
            <a:ext cx="18470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 Cycle Detector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596896" y="2423160"/>
            <a:ext cx="1847088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Topics recurring every 3–5 years flagged with high cycle weight via time-series analysis.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645152" y="1920240"/>
            <a:ext cx="2011680" cy="1810512"/>
          </a:xfrm>
          <a:prstGeom prst="rect">
            <a:avLst/>
          </a:prstGeom>
          <a:solidFill>
            <a:srgbClr val="161628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645152" y="1920240"/>
            <a:ext cx="201168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36592" y="2011680"/>
            <a:ext cx="18470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 Gap Scorer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736592" y="2423160"/>
            <a:ext cx="1847088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Topics absent many years gain weight. 'Due to appear' heuristic from historical absence data.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784848" y="1920240"/>
            <a:ext cx="2011680" cy="1810512"/>
          </a:xfrm>
          <a:prstGeom prst="rect">
            <a:avLst/>
          </a:prstGeom>
          <a:solidFill>
            <a:srgbClr val="161628"/>
          </a:solidFill>
          <a:ln w="12700">
            <a:solidFill>
              <a:srgbClr val="22C55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784848" y="1920240"/>
            <a:ext cx="2011680" cy="6400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76288" y="2011680"/>
            <a:ext cx="18470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 Cross-Exam Signal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876288" y="2423160"/>
            <a:ext cx="1847088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Topics appearing in both JEE and NEET weighted higher. Inter-exam correlation boosts confidence.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65760" y="3886200"/>
            <a:ext cx="4407408" cy="987552"/>
          </a:xfrm>
          <a:prstGeom prst="rect">
            <a:avLst/>
          </a:prstGeom>
          <a:solidFill>
            <a:srgbClr val="1E1E35"/>
          </a:solidFill>
          <a:ln w="12700">
            <a:solidFill>
              <a:srgbClr val="2A2A4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65760" y="3886200"/>
            <a:ext cx="54864" cy="987552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12064" y="3959352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Priority Score: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12064" y="4224528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A855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priority  =  (100 − accuracy)  ×  (slm_importance ÷ 100)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074920" y="3886200"/>
            <a:ext cx="896112" cy="987552"/>
          </a:xfrm>
          <a:prstGeom prst="rect">
            <a:avLst/>
          </a:prstGeom>
          <a:solidFill>
            <a:srgbClr val="161628"/>
          </a:solidFill>
          <a:ln w="19050">
            <a:solidFill>
              <a:srgbClr val="EF444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74920" y="3886200"/>
            <a:ext cx="896112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044184" y="3886200"/>
            <a:ext cx="896112" cy="987552"/>
          </a:xfrm>
          <a:prstGeom prst="rect">
            <a:avLst/>
          </a:prstGeom>
          <a:solidFill>
            <a:srgbClr val="161628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044184" y="3886200"/>
            <a:ext cx="896112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7013448" y="3886200"/>
            <a:ext cx="896112" cy="987552"/>
          </a:xfrm>
          <a:prstGeom prst="rect">
            <a:avLst/>
          </a:prstGeom>
          <a:solidFill>
            <a:srgbClr val="161628"/>
          </a:solidFill>
          <a:ln w="19050">
            <a:solidFill>
              <a:srgbClr val="6366F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013448" y="3886200"/>
            <a:ext cx="896112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7982712" y="3886200"/>
            <a:ext cx="896112" cy="987552"/>
          </a:xfrm>
          <a:prstGeom prst="rect">
            <a:avLst/>
          </a:prstGeom>
          <a:solidFill>
            <a:srgbClr val="161628"/>
          </a:solidFill>
          <a:ln w="19050">
            <a:solidFill>
              <a:srgbClr val="94A3B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982712" y="3886200"/>
            <a:ext cx="896112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E2E8F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Prajna SLM Intelligence Layer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822960"/>
            <a:ext cx="4160520" cy="1216152"/>
          </a:xfrm>
          <a:prstGeom prst="rect">
            <a:avLst/>
          </a:prstGeom>
          <a:solidFill>
            <a:srgbClr val="161628"/>
          </a:solidFill>
          <a:ln w="19050">
            <a:solidFill>
              <a:srgbClr val="06B6D4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365760" y="822960"/>
            <a:ext cx="54864" cy="121615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914400"/>
            <a:ext cx="38587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Layer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1216152"/>
            <a:ext cx="38587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· 4 Routers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66928" y="1444752"/>
            <a:ext cx="3840480" cy="5577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/predictions/rank-all — global topic ranking</a:t>
            </a:r>
            <a:endParaRPr lang="en-US" sz="950" dirty="0"/>
          </a:p>
          <a:p>
            <a:pPr algn="l"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/copilot/ask — conversational NL interface</a:t>
            </a:r>
            <a:endParaRPr lang="en-US" sz="950" dirty="0"/>
          </a:p>
          <a:p>
            <a:pPr algn="l"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/reports/revision-plan — full study plan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65760" y="2148840"/>
            <a:ext cx="4160520" cy="1216152"/>
          </a:xfrm>
          <a:prstGeom prst="rect">
            <a:avLst/>
          </a:prstGeom>
          <a:solidFill>
            <a:srgbClr val="161628"/>
          </a:solidFill>
          <a:ln w="19050">
            <a:solidFill>
              <a:srgbClr val="A855F7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2148840"/>
            <a:ext cx="54864" cy="1216152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2240280"/>
            <a:ext cx="38587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 Layer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48640" y="2542032"/>
            <a:ext cx="38587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SLM + RAG Engine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66928" y="2770632"/>
            <a:ext cx="3840480" cy="5577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Ollama (Mistral 7B, Phi-3 — runs locally)</a:t>
            </a:r>
            <a:endParaRPr lang="en-US" sz="950" dirty="0"/>
          </a:p>
          <a:p>
            <a:pPr algn="l"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HuggingFace (MPS/CUDA device support)</a:t>
            </a:r>
            <a:endParaRPr lang="en-US" sz="950" dirty="0"/>
          </a:p>
          <a:p>
            <a:pPr algn="l"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ChromaDB vector store for PYQ evidence retrieval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65760" y="3474720"/>
            <a:ext cx="4160520" cy="1216152"/>
          </a:xfrm>
          <a:prstGeom prst="rect">
            <a:avLst/>
          </a:prstGeom>
          <a:solidFill>
            <a:srgbClr val="161628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65760" y="3474720"/>
            <a:ext cx="54864" cy="1216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3566160"/>
            <a:ext cx="38587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Layer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48640" y="3867912"/>
            <a:ext cx="38587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&amp; Embeddings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66928" y="4096512"/>
            <a:ext cx="3840480" cy="5577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— 8,000+ structured questions</a:t>
            </a:r>
            <a:endParaRPr lang="en-US" sz="950" dirty="0"/>
          </a:p>
          <a:p>
            <a:pPr algn="l"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PyTorch .pt embedding files per exam</a:t>
            </a:r>
            <a:endParaRPr lang="en-US" sz="950" dirty="0"/>
          </a:p>
          <a:p>
            <a:pPr algn="l"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Metadata-filtered RAG retrieval pipeline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709160" y="822960"/>
            <a:ext cx="4114800" cy="1216152"/>
          </a:xfrm>
          <a:prstGeom prst="rect">
            <a:avLst/>
          </a:prstGeom>
          <a:solidFill>
            <a:srgbClr val="1E1E35"/>
          </a:solidFill>
          <a:ln w="12700">
            <a:solidFill>
              <a:srgbClr val="EF4444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709160" y="822960"/>
            <a:ext cx="54864" cy="121615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46320" y="914400"/>
            <a:ext cx="385876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Anti-Hallucination Guards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846320" y="1243584"/>
            <a:ext cx="3858768" cy="7406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SLM outputs grounded in retrieved PYQ evidence. Confidence scores gated by source quality. Automatic fallback to pure prediction when RAG quality is low.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709160" y="2148840"/>
            <a:ext cx="4114800" cy="1216152"/>
          </a:xfrm>
          <a:prstGeom prst="rect">
            <a:avLst/>
          </a:prstGeom>
          <a:solidFill>
            <a:srgbClr val="1E1E35"/>
          </a:solidFill>
          <a:ln w="12700">
            <a:solidFill>
              <a:srgbClr val="22C55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709160" y="2148840"/>
            <a:ext cx="54864" cy="121615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46320" y="2240280"/>
            <a:ext cx="385876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4-Stage Evaluation Pipeline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846320" y="2569464"/>
            <a:ext cx="3858768" cy="7406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Grounding accuracy ≥ 85%  ·  Factual consistency ≥ 75%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Ranking quality (Kendall τ) ≥ 0.70  ·  P95 latency ≤ 3,000ms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Fallback rate ≤ 10%  ·  Insight usefulness ≥ 80%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709160" y="3474720"/>
            <a:ext cx="4114800" cy="1216152"/>
          </a:xfrm>
          <a:prstGeom prst="rect">
            <a:avLst/>
          </a:prstGeom>
          <a:solidFill>
            <a:srgbClr val="1E1E35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709160" y="3474720"/>
            <a:ext cx="54864" cy="1216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46320" y="3566160"/>
            <a:ext cx="385876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Zero-Code Provider Switching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846320" y="3895344"/>
            <a:ext cx="3858768" cy="7406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abstraction layer switches between Ollama, HuggingFace (MPS/CUDA), and OpenAI. Zero code changes — swap via .env. Mock provider for CI.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E2E8F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Student Intelligence Dashboard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6809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6E8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per-student window into performance, prediction alignment, and AI-guided revision — client-side, zero backend cost.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384048" y="1170432"/>
            <a:ext cx="2651760" cy="1828800"/>
          </a:xfrm>
          <a:prstGeom prst="rect">
            <a:avLst/>
          </a:prstGeom>
          <a:solidFill>
            <a:srgbClr val="161628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84048" y="1170432"/>
            <a:ext cx="265176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93776" y="1280160"/>
            <a:ext cx="24505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 Hero Performance Card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93776" y="1719072"/>
            <a:ext cx="2450592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Latest score, rank, improvement %, consistency score — all at a glance with trajectory context.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191256" y="1170432"/>
            <a:ext cx="2651760" cy="1828800"/>
          </a:xfrm>
          <a:prstGeom prst="rect">
            <a:avLst/>
          </a:prstGeom>
          <a:solidFill>
            <a:srgbClr val="161628"/>
          </a:solidFill>
          <a:ln w="12700">
            <a:solidFill>
              <a:srgbClr val="06B6D4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191256" y="1170432"/>
            <a:ext cx="2651760" cy="6400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00984" y="1280160"/>
            <a:ext cx="24505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 Score Trajectory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300984" y="1719072"/>
            <a:ext cx="2450592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 chart across 10 mock exams. Per-exam trend line. Multi-subject accuracy overlay on one canvas.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998464" y="1170432"/>
            <a:ext cx="2651760" cy="1828800"/>
          </a:xfrm>
          <a:prstGeom prst="rect">
            <a:avLst/>
          </a:prstGeom>
          <a:solidFill>
            <a:srgbClr val="161628"/>
          </a:solidFill>
          <a:ln w="12700">
            <a:solidFill>
              <a:srgbClr val="A855F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998464" y="1170432"/>
            <a:ext cx="2651760" cy="64008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08192" y="1280160"/>
            <a:ext cx="24505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Chapter Performance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108192" y="1719072"/>
            <a:ext cx="2450592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59 chapters grouped by subject. Sorted weakest-first with level badges M / S / D / W / C for each chapter.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84048" y="3090672"/>
            <a:ext cx="2651760" cy="1828800"/>
          </a:xfrm>
          <a:prstGeom prst="rect">
            <a:avLst/>
          </a:prstGeom>
          <a:solidFill>
            <a:srgbClr val="161628"/>
          </a:solidFill>
          <a:ln w="12700">
            <a:solidFill>
              <a:srgbClr val="EF4444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84048" y="3090672"/>
            <a:ext cx="2651760" cy="6400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3776" y="3200400"/>
            <a:ext cx="24505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Priority Focus Areas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93776" y="3639312"/>
            <a:ext cx="2450592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5 Prajna-ranked chapters: high gap AND high exam-appearance probability. Sorted by priority score.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191256" y="3090672"/>
            <a:ext cx="2651760" cy="1828800"/>
          </a:xfrm>
          <a:prstGeom prst="rect">
            <a:avLst/>
          </a:prstGeom>
          <a:solidFill>
            <a:srgbClr val="161628"/>
          </a:solidFill>
          <a:ln w="12700">
            <a:solidFill>
              <a:srgbClr val="22C55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191256" y="3090672"/>
            <a:ext cx="2651760" cy="6400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300984" y="3200400"/>
            <a:ext cx="24505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Live Intelligence Feed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300984" y="3639312"/>
            <a:ext cx="2450592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top-18 ranked topic predictions from the Intelligence API. Student weak-zone matches highlighted with ★.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998464" y="3090672"/>
            <a:ext cx="2651760" cy="1828800"/>
          </a:xfrm>
          <a:prstGeom prst="rect">
            <a:avLst/>
          </a:prstGeom>
          <a:solidFill>
            <a:srgbClr val="161628"/>
          </a:solidFill>
          <a:ln w="12700">
            <a:solidFill>
              <a:srgbClr val="06B6D4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998464" y="3090672"/>
            <a:ext cx="2651760" cy="6400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108192" y="3200400"/>
            <a:ext cx="24505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 Student Copilot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108192" y="3639312"/>
            <a:ext cx="2450592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 Q&amp;A grounded in the student's actual performance data. Multi-turn memory with pre-seeded question suggestions.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E2E8F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Prajna-Powered Subject-Wise Study Guide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457200" y="76809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6E8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advisor for ALL chapters — not just top 5. Tells students what to study, how long, in what order, and why.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365760" y="1115568"/>
            <a:ext cx="3931920" cy="612648"/>
          </a:xfrm>
          <a:prstGeom prst="rect">
            <a:avLst/>
          </a:prstGeom>
          <a:solidFill>
            <a:srgbClr val="161628"/>
          </a:solidFill>
          <a:ln w="19050">
            <a:solidFill>
              <a:srgbClr val="EF4444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115568"/>
            <a:ext cx="54864" cy="61264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75488" y="1115568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 Panel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475488" y="1426464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Sorted by urgency (avg priority score desc)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566928" y="1810512"/>
            <a:ext cx="3730752" cy="612648"/>
          </a:xfrm>
          <a:prstGeom prst="rect">
            <a:avLst/>
          </a:prstGeom>
          <a:solidFill>
            <a:srgbClr val="161628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66928" y="1810512"/>
            <a:ext cx="54864" cy="61264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76656" y="1810512"/>
            <a:ext cx="35935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Row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676656" y="2121408"/>
            <a:ext cx="3593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Ranked #1, #2… · dual bars: accuracy + importance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768096" y="2505456"/>
            <a:ext cx="3529584" cy="612648"/>
          </a:xfrm>
          <a:prstGeom prst="rect">
            <a:avLst/>
          </a:prstGeom>
          <a:solidFill>
            <a:srgbClr val="161628"/>
          </a:solidFill>
          <a:ln w="19050">
            <a:solidFill>
              <a:srgbClr val="A855F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68096" y="2505456"/>
            <a:ext cx="54864" cy="612648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77824" y="2505456"/>
            <a:ext cx="33924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Detail Card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877824" y="2816352"/>
            <a:ext cx="33924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hours · Trend arrow · Gap to next mastery level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969264" y="3200400"/>
            <a:ext cx="3328416" cy="612648"/>
          </a:xfrm>
          <a:prstGeom prst="rect">
            <a:avLst/>
          </a:prstGeom>
          <a:solidFill>
            <a:srgbClr val="161628"/>
          </a:solidFill>
          <a:ln w="19050">
            <a:solidFill>
              <a:srgbClr val="06B6D4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969264" y="3200400"/>
            <a:ext cx="54864" cy="61264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78992" y="3200400"/>
            <a:ext cx="31912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Micro-Topic Chips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1078992" y="3511296"/>
            <a:ext cx="3191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Lazy API fetch per chapter · cached in Map · top 3 topics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1170432" y="3895344"/>
            <a:ext cx="3127248" cy="612648"/>
          </a:xfrm>
          <a:prstGeom prst="rect">
            <a:avLst/>
          </a:prstGeom>
          <a:solidFill>
            <a:srgbClr val="161628"/>
          </a:solidFill>
          <a:ln w="19050">
            <a:solidFill>
              <a:srgbClr val="22C55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1170432" y="3895344"/>
            <a:ext cx="54864" cy="61264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280160" y="3895344"/>
            <a:ext cx="29900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Revision Strategy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1280160" y="4206240"/>
            <a:ext cx="2990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levels × 3 trend directions = 13 unique templates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526280" y="1115568"/>
            <a:ext cx="4297680" cy="640080"/>
          </a:xfrm>
          <a:prstGeom prst="rect">
            <a:avLst/>
          </a:prstGeom>
          <a:solidFill>
            <a:srgbClr val="1E1E35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26280" y="1115568"/>
            <a:ext cx="54864" cy="640080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645152" y="1170432"/>
            <a:ext cx="40965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Score Formula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645152" y="1426464"/>
            <a:ext cx="4096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priority  =  (100 − acc)  ×  (slmImp ÷ 100)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526280" y="1847088"/>
            <a:ext cx="4297680" cy="640080"/>
          </a:xfrm>
          <a:prstGeom prst="rect">
            <a:avLst/>
          </a:prstGeom>
          <a:solidFill>
            <a:srgbClr val="1E1E35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526280" y="1847088"/>
            <a:ext cx="54864" cy="6400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645152" y="1901952"/>
            <a:ext cx="40965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Hours by Level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645152" y="2157984"/>
            <a:ext cx="4096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 → 6h   W → 4h   D → 2.5h   S → 1h   M → 0.5h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526280" y="2578608"/>
            <a:ext cx="4297680" cy="640080"/>
          </a:xfrm>
          <a:prstGeom prst="rect">
            <a:avLst/>
          </a:prstGeom>
          <a:solidFill>
            <a:srgbClr val="1E1E35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526280" y="2578608"/>
            <a:ext cx="54864" cy="64008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645152" y="2633472"/>
            <a:ext cx="40965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Urgency Thresholds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645152" y="2889504"/>
            <a:ext cx="4096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Urgent &gt; 35  ·  Moderate 20–35  ·  On Track &lt; 20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526280" y="3310128"/>
            <a:ext cx="4297680" cy="640080"/>
          </a:xfrm>
          <a:prstGeom prst="rect">
            <a:avLst/>
          </a:prstGeom>
          <a:solidFill>
            <a:srgbClr val="1E1E35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526280" y="3310128"/>
            <a:ext cx="54864" cy="64008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645152" y="3364992"/>
            <a:ext cx="40965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Lazy Loading + Cache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4645152" y="3621024"/>
            <a:ext cx="4096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Micro-topics fetched only on chapter expand. Map prevents duplicate API calls.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526280" y="4041648"/>
            <a:ext cx="4297680" cy="640080"/>
          </a:xfrm>
          <a:prstGeom prst="rect">
            <a:avLst/>
          </a:prstGeom>
          <a:solidFill>
            <a:srgbClr val="1E1E35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526280" y="4041648"/>
            <a:ext cx="54864" cy="64008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645152" y="4096512"/>
            <a:ext cx="40965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Level Gap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4645152" y="4352544"/>
            <a:ext cx="4096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= pctLevel() boundary − accuracy (C→25, W→45, D→65, S→80)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E2E8F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Development Roadmap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804672" y="1581912"/>
            <a:ext cx="7589520" cy="0"/>
          </a:xfrm>
          <a:prstGeom prst="line">
            <a:avLst/>
          </a:prstGeom>
          <a:noFill/>
          <a:ln w="19050">
            <a:solidFill>
              <a:srgbClr val="2A2A4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86384" y="1161288"/>
            <a:ext cx="850392" cy="850392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86384" y="1161288"/>
            <a:ext cx="850392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0F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47472" y="2121408"/>
            <a:ext cx="2011680" cy="2651760"/>
          </a:xfrm>
          <a:prstGeom prst="rect">
            <a:avLst/>
          </a:prstGeom>
          <a:solidFill>
            <a:srgbClr val="161628"/>
          </a:solidFill>
          <a:ln w="19050">
            <a:solidFill>
              <a:srgbClr val="22C55E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47472" y="2121408"/>
            <a:ext cx="2011680" cy="6400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212848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API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260604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3–5 days  ·  ✅ Complete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57200" y="2889504"/>
            <a:ext cx="1828800" cy="1764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 + ranking API (no SLM)</a:t>
            </a:r>
            <a:endParaRPr lang="en-US" sz="1000" dirty="0"/>
          </a:p>
          <a:p>
            <a:pPr algn="l"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with 4 core routers</a:t>
            </a:r>
            <a:endParaRPr lang="en-US" sz="1000" dirty="0"/>
          </a:p>
          <a:p>
            <a:pPr algn="l"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scoring + urgency tiers</a:t>
            </a:r>
            <a:endParaRPr lang="en-US" sz="1000" dirty="0"/>
          </a:p>
          <a:p>
            <a:pPr algn="l"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cluster detection engine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935224" y="1161288"/>
            <a:ext cx="850392" cy="850392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935224" y="1161288"/>
            <a:ext cx="850392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0F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2496312" y="2121408"/>
            <a:ext cx="2011680" cy="2651760"/>
          </a:xfrm>
          <a:prstGeom prst="rect">
            <a:avLst/>
          </a:prstGeom>
          <a:solidFill>
            <a:srgbClr val="161628"/>
          </a:solidFill>
          <a:ln w="19050">
            <a:solidFill>
              <a:srgbClr val="06B6D4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496312" y="2121408"/>
            <a:ext cx="2011680" cy="6400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606040" y="2212848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SLM Insights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2606040" y="260604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1–2 wks  ·  ✅ Complete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606040" y="2889504"/>
            <a:ext cx="1828800" cy="1764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Open-weight SLM (Ollama / HF)</a:t>
            </a:r>
            <a:endParaRPr lang="en-US" sz="1000" dirty="0"/>
          </a:p>
          <a:p>
            <a:pPr algn="l"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with ChromaDB vector store</a:t>
            </a:r>
            <a:endParaRPr lang="en-US" sz="1000" dirty="0"/>
          </a:p>
          <a:p>
            <a:pPr algn="l"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Anti-hallucination prompt guards</a:t>
            </a:r>
            <a:endParaRPr lang="en-US" sz="1000" dirty="0"/>
          </a:p>
          <a:p>
            <a:pPr algn="l"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Revision plan + trend endpoints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084064" y="1161288"/>
            <a:ext cx="850392" cy="850392"/>
          </a:xfrm>
          <a:prstGeom prst="ellipse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84064" y="1161288"/>
            <a:ext cx="850392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0F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4645152" y="2121408"/>
            <a:ext cx="2011680" cy="2651760"/>
          </a:xfrm>
          <a:prstGeom prst="rect">
            <a:avLst/>
          </a:prstGeom>
          <a:solidFill>
            <a:srgbClr val="161628"/>
          </a:solidFill>
          <a:ln w="19050">
            <a:solidFill>
              <a:srgbClr val="A855F7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645152" y="2121408"/>
            <a:ext cx="2011680" cy="64008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54880" y="2212848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&amp; Dashboard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754880" y="260604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1–2 wks  ·  🔵 Active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754880" y="2889504"/>
            <a:ext cx="1828800" cy="1764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Multi-turn conversational copilot</a:t>
            </a:r>
            <a:endParaRPr lang="en-US" sz="1000" dirty="0"/>
          </a:p>
          <a:p>
            <a:pPr algn="l"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Student-personalised recommendations</a:t>
            </a:r>
            <a:endParaRPr lang="en-US" sz="1000" dirty="0"/>
          </a:p>
          <a:p>
            <a:pPr algn="l"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Subject-wise interactive guide</a:t>
            </a:r>
            <a:endParaRPr lang="en-US" sz="1000" dirty="0"/>
          </a:p>
          <a:p>
            <a:pPr algn="l"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class-level intelligence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7232904" y="1161288"/>
            <a:ext cx="850392" cy="85039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232904" y="1161288"/>
            <a:ext cx="850392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0F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6793992" y="2121408"/>
            <a:ext cx="2011680" cy="2651760"/>
          </a:xfrm>
          <a:prstGeom prst="rect">
            <a:avLst/>
          </a:prstGeom>
          <a:solidFill>
            <a:srgbClr val="161628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793992" y="2121408"/>
            <a:ext cx="201168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903720" y="2212848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 &amp; CI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903720" y="260604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2–3 wks  ·  Planned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903720" y="2889504"/>
            <a:ext cx="1828800" cy="1764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Grounding accuracy ≥ 85%</a:t>
            </a:r>
            <a:endParaRPr lang="en-US" sz="1000" dirty="0"/>
          </a:p>
          <a:p>
            <a:pPr algn="l"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A/B prompt testing harness</a:t>
            </a:r>
            <a:endParaRPr lang="en-US" sz="1000" dirty="0"/>
          </a:p>
          <a:p>
            <a:pPr algn="l"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(thumbs up/down)</a:t>
            </a:r>
            <a:endParaRPr lang="en-US" sz="1000" dirty="0"/>
          </a:p>
          <a:p>
            <a:pPr algn="l"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Auto-regression in CI pipeline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E2E8F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Built on a Zero-Cost Stack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84048" y="868680"/>
            <a:ext cx="2478024" cy="3657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75488" y="868680"/>
            <a:ext cx="23865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063240" y="868680"/>
            <a:ext cx="2478024" cy="3657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154680" y="868680"/>
            <a:ext cx="23865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/ Framework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742432" y="868680"/>
            <a:ext cx="1225296" cy="3657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833872" y="868680"/>
            <a:ext cx="11338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84048" y="1261872"/>
            <a:ext cx="2478024" cy="292608"/>
          </a:xfrm>
          <a:prstGeom prst="rect">
            <a:avLst/>
          </a:prstGeom>
          <a:solidFill>
            <a:srgbClr val="161628"/>
          </a:solidFill>
          <a:ln w="6350">
            <a:solidFill>
              <a:srgbClr val="2A2A4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063240" y="1261872"/>
            <a:ext cx="2478024" cy="292608"/>
          </a:xfrm>
          <a:prstGeom prst="rect">
            <a:avLst/>
          </a:prstGeom>
          <a:solidFill>
            <a:srgbClr val="161628"/>
          </a:solidFill>
          <a:ln w="6350">
            <a:solidFill>
              <a:srgbClr val="2A2A4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742432" y="1261872"/>
            <a:ext cx="1225296" cy="292608"/>
          </a:xfrm>
          <a:prstGeom prst="rect">
            <a:avLst/>
          </a:prstGeom>
          <a:solidFill>
            <a:srgbClr val="161628"/>
          </a:solidFill>
          <a:ln w="6350">
            <a:solidFill>
              <a:srgbClr val="2A2A4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" y="1261872"/>
            <a:ext cx="23865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Extraction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3154680" y="1261872"/>
            <a:ext cx="23865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AI (one-time)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833872" y="1261872"/>
            <a:ext cx="11338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tier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84048" y="1580083"/>
            <a:ext cx="2478024" cy="292608"/>
          </a:xfrm>
          <a:prstGeom prst="rect">
            <a:avLst/>
          </a:prstGeom>
          <a:solidFill>
            <a:srgbClr val="1E1E35"/>
          </a:solidFill>
          <a:ln w="6350">
            <a:solidFill>
              <a:srgbClr val="2A2A4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063240" y="1580083"/>
            <a:ext cx="2478024" cy="292608"/>
          </a:xfrm>
          <a:prstGeom prst="rect">
            <a:avLst/>
          </a:prstGeom>
          <a:solidFill>
            <a:srgbClr val="1E1E35"/>
          </a:solidFill>
          <a:ln w="6350">
            <a:solidFill>
              <a:srgbClr val="2A2A4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742432" y="1580083"/>
            <a:ext cx="1225296" cy="292608"/>
          </a:xfrm>
          <a:prstGeom prst="rect">
            <a:avLst/>
          </a:prstGeom>
          <a:solidFill>
            <a:srgbClr val="1E1E35"/>
          </a:solidFill>
          <a:ln w="6350">
            <a:solidFill>
              <a:srgbClr val="2A2A4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5488" y="1580083"/>
            <a:ext cx="23865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3154680" y="1580083"/>
            <a:ext cx="23865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833872" y="1580083"/>
            <a:ext cx="11338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84048" y="1898294"/>
            <a:ext cx="2478024" cy="292608"/>
          </a:xfrm>
          <a:prstGeom prst="rect">
            <a:avLst/>
          </a:prstGeom>
          <a:solidFill>
            <a:srgbClr val="161628"/>
          </a:solidFill>
          <a:ln w="6350">
            <a:solidFill>
              <a:srgbClr val="2A2A4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063240" y="1898294"/>
            <a:ext cx="2478024" cy="292608"/>
          </a:xfrm>
          <a:prstGeom prst="rect">
            <a:avLst/>
          </a:prstGeom>
          <a:solidFill>
            <a:srgbClr val="161628"/>
          </a:solidFill>
          <a:ln w="6350">
            <a:solidFill>
              <a:srgbClr val="2A2A4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742432" y="1898294"/>
            <a:ext cx="1225296" cy="292608"/>
          </a:xfrm>
          <a:prstGeom prst="rect">
            <a:avLst/>
          </a:prstGeom>
          <a:solidFill>
            <a:srgbClr val="161628"/>
          </a:solidFill>
          <a:ln w="6350">
            <a:solidFill>
              <a:srgbClr val="2A2A4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5488" y="1898294"/>
            <a:ext cx="23865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Classifier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3154680" y="1898294"/>
            <a:ext cx="23865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 + PyTorch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5833872" y="1898294"/>
            <a:ext cx="11338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384048" y="2216506"/>
            <a:ext cx="2478024" cy="292608"/>
          </a:xfrm>
          <a:prstGeom prst="rect">
            <a:avLst/>
          </a:prstGeom>
          <a:solidFill>
            <a:srgbClr val="1E1E35"/>
          </a:solidFill>
          <a:ln w="6350">
            <a:solidFill>
              <a:srgbClr val="2A2A4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063240" y="2216506"/>
            <a:ext cx="2478024" cy="292608"/>
          </a:xfrm>
          <a:prstGeom prst="rect">
            <a:avLst/>
          </a:prstGeom>
          <a:solidFill>
            <a:srgbClr val="1E1E35"/>
          </a:solidFill>
          <a:ln w="6350">
            <a:solidFill>
              <a:srgbClr val="2A2A4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742432" y="2216506"/>
            <a:ext cx="1225296" cy="292608"/>
          </a:xfrm>
          <a:prstGeom prst="rect">
            <a:avLst/>
          </a:prstGeom>
          <a:solidFill>
            <a:srgbClr val="1E1E35"/>
          </a:solidFill>
          <a:ln w="6350">
            <a:solidFill>
              <a:srgbClr val="2A2A4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5488" y="2216506"/>
            <a:ext cx="23865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Embeddings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3154680" y="2216506"/>
            <a:ext cx="23865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Sentence Transformers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5833872" y="2216506"/>
            <a:ext cx="11338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384048" y="2534717"/>
            <a:ext cx="2478024" cy="292608"/>
          </a:xfrm>
          <a:prstGeom prst="rect">
            <a:avLst/>
          </a:prstGeom>
          <a:solidFill>
            <a:srgbClr val="161628"/>
          </a:solidFill>
          <a:ln w="6350">
            <a:solidFill>
              <a:srgbClr val="2A2A48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063240" y="2534717"/>
            <a:ext cx="2478024" cy="292608"/>
          </a:xfrm>
          <a:prstGeom prst="rect">
            <a:avLst/>
          </a:prstGeom>
          <a:solidFill>
            <a:srgbClr val="161628"/>
          </a:solidFill>
          <a:ln w="6350">
            <a:solidFill>
              <a:srgbClr val="2A2A48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742432" y="2534717"/>
            <a:ext cx="1225296" cy="292608"/>
          </a:xfrm>
          <a:prstGeom prst="rect">
            <a:avLst/>
          </a:prstGeom>
          <a:solidFill>
            <a:srgbClr val="161628"/>
          </a:solidFill>
          <a:ln w="6350">
            <a:solidFill>
              <a:srgbClr val="2A2A4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75488" y="2534717"/>
            <a:ext cx="23865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SLM Inference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3154680" y="2534717"/>
            <a:ext cx="23865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Ollama (Mistral 7B, Phi-3)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5833872" y="2534717"/>
            <a:ext cx="11338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(local)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384048" y="2852928"/>
            <a:ext cx="2478024" cy="292608"/>
          </a:xfrm>
          <a:prstGeom prst="rect">
            <a:avLst/>
          </a:prstGeom>
          <a:solidFill>
            <a:srgbClr val="1E1E35"/>
          </a:solidFill>
          <a:ln w="6350">
            <a:solidFill>
              <a:srgbClr val="2A2A48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3063240" y="2852928"/>
            <a:ext cx="2478024" cy="292608"/>
          </a:xfrm>
          <a:prstGeom prst="rect">
            <a:avLst/>
          </a:prstGeom>
          <a:solidFill>
            <a:srgbClr val="1E1E35"/>
          </a:solidFill>
          <a:ln w="6350">
            <a:solidFill>
              <a:srgbClr val="2A2A48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5742432" y="2852928"/>
            <a:ext cx="1225296" cy="292608"/>
          </a:xfrm>
          <a:prstGeom prst="rect">
            <a:avLst/>
          </a:prstGeom>
          <a:solidFill>
            <a:srgbClr val="1E1E35"/>
          </a:solidFill>
          <a:ln w="6350">
            <a:solidFill>
              <a:srgbClr val="2A2A4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75488" y="2852928"/>
            <a:ext cx="23865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Store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3154680" y="2852928"/>
            <a:ext cx="23865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ChromaDB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5833872" y="2852928"/>
            <a:ext cx="11338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384048" y="3171139"/>
            <a:ext cx="2478024" cy="292608"/>
          </a:xfrm>
          <a:prstGeom prst="rect">
            <a:avLst/>
          </a:prstGeom>
          <a:solidFill>
            <a:srgbClr val="161628"/>
          </a:solidFill>
          <a:ln w="6350">
            <a:solidFill>
              <a:srgbClr val="2A2A48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3063240" y="3171139"/>
            <a:ext cx="2478024" cy="292608"/>
          </a:xfrm>
          <a:prstGeom prst="rect">
            <a:avLst/>
          </a:prstGeom>
          <a:solidFill>
            <a:srgbClr val="161628"/>
          </a:solidFill>
          <a:ln w="6350">
            <a:solidFill>
              <a:srgbClr val="2A2A48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5742432" y="3171139"/>
            <a:ext cx="1225296" cy="292608"/>
          </a:xfrm>
          <a:prstGeom prst="rect">
            <a:avLst/>
          </a:prstGeom>
          <a:solidFill>
            <a:srgbClr val="161628"/>
          </a:solidFill>
          <a:ln w="6350">
            <a:solidFill>
              <a:srgbClr val="2A2A48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75488" y="3171139"/>
            <a:ext cx="23865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Server</a:t>
            </a:r>
            <a:endParaRPr lang="en-US" sz="1050" dirty="0"/>
          </a:p>
        </p:txBody>
      </p:sp>
      <p:sp>
        <p:nvSpPr>
          <p:cNvPr id="49" name="Text 47"/>
          <p:cNvSpPr/>
          <p:nvPr/>
        </p:nvSpPr>
        <p:spPr>
          <a:xfrm>
            <a:off x="3154680" y="3171139"/>
            <a:ext cx="23865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+ Uvicorn</a:t>
            </a:r>
            <a:endParaRPr lang="en-US" sz="1050" dirty="0"/>
          </a:p>
        </p:txBody>
      </p:sp>
      <p:sp>
        <p:nvSpPr>
          <p:cNvPr id="50" name="Text 48"/>
          <p:cNvSpPr/>
          <p:nvPr/>
        </p:nvSpPr>
        <p:spPr>
          <a:xfrm>
            <a:off x="5833872" y="3171139"/>
            <a:ext cx="11338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</a:t>
            </a:r>
            <a:endParaRPr lang="en-US" sz="1050" dirty="0"/>
          </a:p>
        </p:txBody>
      </p:sp>
      <p:sp>
        <p:nvSpPr>
          <p:cNvPr id="51" name="Shape 49"/>
          <p:cNvSpPr/>
          <p:nvPr/>
        </p:nvSpPr>
        <p:spPr>
          <a:xfrm>
            <a:off x="384048" y="3489350"/>
            <a:ext cx="2478024" cy="292608"/>
          </a:xfrm>
          <a:prstGeom prst="rect">
            <a:avLst/>
          </a:prstGeom>
          <a:solidFill>
            <a:srgbClr val="1E1E35"/>
          </a:solidFill>
          <a:ln w="6350">
            <a:solidFill>
              <a:srgbClr val="2A2A48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3063240" y="3489350"/>
            <a:ext cx="2478024" cy="292608"/>
          </a:xfrm>
          <a:prstGeom prst="rect">
            <a:avLst/>
          </a:prstGeom>
          <a:solidFill>
            <a:srgbClr val="1E1E35"/>
          </a:solidFill>
          <a:ln w="6350">
            <a:solidFill>
              <a:srgbClr val="2A2A48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5742432" y="3489350"/>
            <a:ext cx="1225296" cy="292608"/>
          </a:xfrm>
          <a:prstGeom prst="rect">
            <a:avLst/>
          </a:prstGeom>
          <a:solidFill>
            <a:srgbClr val="1E1E35"/>
          </a:solidFill>
          <a:ln w="6350">
            <a:solidFill>
              <a:srgbClr val="2A2A48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75488" y="3489350"/>
            <a:ext cx="23865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Dashboards</a:t>
            </a:r>
            <a:endParaRPr lang="en-US" sz="1050" dirty="0"/>
          </a:p>
        </p:txBody>
      </p:sp>
      <p:sp>
        <p:nvSpPr>
          <p:cNvPr id="55" name="Text 53"/>
          <p:cNvSpPr/>
          <p:nvPr/>
        </p:nvSpPr>
        <p:spPr>
          <a:xfrm>
            <a:off x="3154680" y="3489350"/>
            <a:ext cx="23865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+ HTML / JS</a:t>
            </a:r>
            <a:endParaRPr lang="en-US" sz="1050" dirty="0"/>
          </a:p>
        </p:txBody>
      </p:sp>
      <p:sp>
        <p:nvSpPr>
          <p:cNvPr id="56" name="Text 54"/>
          <p:cNvSpPr/>
          <p:nvPr/>
        </p:nvSpPr>
        <p:spPr>
          <a:xfrm>
            <a:off x="5833872" y="3489350"/>
            <a:ext cx="11338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</a:t>
            </a:r>
            <a:endParaRPr lang="en-US" sz="1050" dirty="0"/>
          </a:p>
        </p:txBody>
      </p:sp>
      <p:sp>
        <p:nvSpPr>
          <p:cNvPr id="57" name="Shape 55"/>
          <p:cNvSpPr/>
          <p:nvPr/>
        </p:nvSpPr>
        <p:spPr>
          <a:xfrm>
            <a:off x="384048" y="4041648"/>
            <a:ext cx="8375904" cy="868680"/>
          </a:xfrm>
          <a:prstGeom prst="rect">
            <a:avLst/>
          </a:prstGeom>
          <a:solidFill>
            <a:srgbClr val="1E1E35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58" name="Shape 56"/>
          <p:cNvSpPr/>
          <p:nvPr/>
        </p:nvSpPr>
        <p:spPr>
          <a:xfrm>
            <a:off x="384048" y="4041648"/>
            <a:ext cx="54864" cy="868680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566928" y="4096512"/>
            <a:ext cx="8065008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i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PRAJNA's mission: democratize exam intelligence. Every student — regardless of coaching budget — deserves the same data-driven edge previously available only to the most well-resourced.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PRAJNA — AI-Powered Exam Intelligence</dc:title>
  <dc:subject>PptxGenJS Presentation</dc:subject>
  <dc:creator>Prajna Team</dc:creator>
  <cp:lastModifiedBy>Prajna Team</cp:lastModifiedBy>
  <cp:revision>1</cp:revision>
  <dcterms:created xsi:type="dcterms:W3CDTF">2026-03-22T10:18:30Z</dcterms:created>
  <dcterms:modified xsi:type="dcterms:W3CDTF">2026-03-22T10:18:30Z</dcterms:modified>
</cp:coreProperties>
</file>